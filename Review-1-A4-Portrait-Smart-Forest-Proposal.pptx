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daefb27d84e9d" /><Relationship Type="http://schemas.openxmlformats.org/officeDocument/2006/relationships/extended-properties" Target="/docProps/app.xml" Id="R693066c3d1f64b9d" /><Relationship Type="http://schemas.openxmlformats.org/officeDocument/2006/relationships/officeDocument" Target="/ppt/presentation.xml" Id="Ree31cdffd8ad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3b316fbad4288"/>
  </p:sldMasterIdLst>
  <p:notesMasterIdLst>
    <p:notesMasterId xmlns:r="http://schemas.openxmlformats.org/officeDocument/2006/relationships" r:id="Rdd7d776689634205"/>
  </p:notesMasterIdLst>
  <p:sldIdLst>
    <p:sldId xmlns:r="http://schemas.openxmlformats.org/officeDocument/2006/relationships" id="256" r:id="Rad518133c08a4a84"/>
    <p:sldId xmlns:r="http://schemas.openxmlformats.org/officeDocument/2006/relationships" id="257" r:id="R1beacd1593e0439c"/>
    <p:sldId xmlns:r="http://schemas.openxmlformats.org/officeDocument/2006/relationships" id="258" r:id="Re101c7c5f82347a6"/>
    <p:sldId xmlns:r="http://schemas.openxmlformats.org/officeDocument/2006/relationships" id="259" r:id="Rc27f3c600cde46e0"/>
    <p:sldId xmlns:r="http://schemas.openxmlformats.org/officeDocument/2006/relationships" id="260" r:id="R11bb80766f094583"/>
    <p:sldId xmlns:r="http://schemas.openxmlformats.org/officeDocument/2006/relationships" id="261" r:id="R9b801dd501c9407f"/>
    <p:sldId xmlns:r="http://schemas.openxmlformats.org/officeDocument/2006/relationships" id="262" r:id="R50594fd44d3b49aa"/>
    <p:sldId xmlns:r="http://schemas.openxmlformats.org/officeDocument/2006/relationships" id="263" r:id="Rf7c5497859e44abf"/>
    <p:sldId xmlns:r="http://schemas.openxmlformats.org/officeDocument/2006/relationships" id="264" r:id="Rd6a77eeaf2644a92"/>
    <p:sldId xmlns:r="http://schemas.openxmlformats.org/officeDocument/2006/relationships" id="265" r:id="Rb0e18d75279645ba"/>
    <p:sldId xmlns:r="http://schemas.openxmlformats.org/officeDocument/2006/relationships" id="266" r:id="R101c74bd627f4c85"/>
    <p:sldId xmlns:r="http://schemas.openxmlformats.org/officeDocument/2006/relationships" id="267" r:id="Ra64d662678564794"/>
    <p:sldId xmlns:r="http://schemas.openxmlformats.org/officeDocument/2006/relationships" id="268" r:id="R2736393cd2384ba7"/>
    <p:sldId xmlns:r="http://schemas.openxmlformats.org/officeDocument/2006/relationships" id="269" r:id="R0c0abf29afe24961"/>
    <p:sldId xmlns:r="http://schemas.openxmlformats.org/officeDocument/2006/relationships" id="270" r:id="R7341b160ffe1417d"/>
    <p:sldId xmlns:r="http://schemas.openxmlformats.org/officeDocument/2006/relationships" id="271" r:id="R3d5aad84e0b7490c"/>
    <p:sldId xmlns:r="http://schemas.openxmlformats.org/officeDocument/2006/relationships" id="272" r:id="R062212d696c7415f"/>
    <p:sldId xmlns:r="http://schemas.openxmlformats.org/officeDocument/2006/relationships" id="273" r:id="R1c33da3b9e564d92"/>
    <p:sldId xmlns:r="http://schemas.openxmlformats.org/officeDocument/2006/relationships" id="274" r:id="Rd6da7e13ba8d47fb"/>
    <p:sldId xmlns:r="http://schemas.openxmlformats.org/officeDocument/2006/relationships" id="275" r:id="R96e6bbda9ad649e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54fbba834431f" /><Relationship Type="http://schemas.openxmlformats.org/officeDocument/2006/relationships/slideMaster" Target="/ppt/slideMasters/slideMaster1.xml" Id="R40a3b316fbad4288" /><Relationship Type="http://schemas.openxmlformats.org/officeDocument/2006/relationships/notesMaster" Target="/ppt/notesMasters/notesMaster1.xml" Id="Rdd7d776689634205" /><Relationship Type="http://schemas.openxmlformats.org/officeDocument/2006/relationships/presProps" Target="/ppt/presProps.xml" Id="R343364df90e04197" /><Relationship Type="http://schemas.openxmlformats.org/officeDocument/2006/relationships/tableStyles" Target="/ppt/tableStyles.xml" Id="R8e0c4c6bcfa0425b" /><Relationship Type="http://schemas.openxmlformats.org/officeDocument/2006/relationships/slide" Target="/ppt/slides/slide1.xml" Id="Rad518133c08a4a84" /><Relationship Type="http://schemas.openxmlformats.org/officeDocument/2006/relationships/slide" Target="/ppt/slides/slide2.xml" Id="R1beacd1593e0439c" /><Relationship Type="http://schemas.openxmlformats.org/officeDocument/2006/relationships/slide" Target="/ppt/slides/slide3.xml" Id="Re101c7c5f82347a6" /><Relationship Type="http://schemas.openxmlformats.org/officeDocument/2006/relationships/slide" Target="/ppt/slides/slide4.xml" Id="Rc27f3c600cde46e0" /><Relationship Type="http://schemas.openxmlformats.org/officeDocument/2006/relationships/slide" Target="/ppt/slides/slide5.xml" Id="R11bb80766f094583" /><Relationship Type="http://schemas.openxmlformats.org/officeDocument/2006/relationships/slide" Target="/ppt/slides/slide6.xml" Id="R9b801dd501c9407f" /><Relationship Type="http://schemas.openxmlformats.org/officeDocument/2006/relationships/slide" Target="/ppt/slides/slide7.xml" Id="R50594fd44d3b49aa" /><Relationship Type="http://schemas.openxmlformats.org/officeDocument/2006/relationships/slide" Target="/ppt/slides/slide8.xml" Id="Rf7c5497859e44abf" /><Relationship Type="http://schemas.openxmlformats.org/officeDocument/2006/relationships/slide" Target="/ppt/slides/slide9.xml" Id="Rd6a77eeaf2644a92" /><Relationship Type="http://schemas.openxmlformats.org/officeDocument/2006/relationships/slide" Target="/ppt/slides/slide10.xml" Id="Rb0e18d75279645ba" /><Relationship Type="http://schemas.openxmlformats.org/officeDocument/2006/relationships/slide" Target="/ppt/slides/slide11.xml" Id="R101c74bd627f4c85" /><Relationship Type="http://schemas.openxmlformats.org/officeDocument/2006/relationships/slide" Target="/ppt/slides/slide12.xml" Id="Ra64d662678564794" /><Relationship Type="http://schemas.openxmlformats.org/officeDocument/2006/relationships/slide" Target="/ppt/slides/slide13.xml" Id="R2736393cd2384ba7" /><Relationship Type="http://schemas.openxmlformats.org/officeDocument/2006/relationships/slide" Target="/ppt/slides/slide14.xml" Id="R0c0abf29afe24961" /><Relationship Type="http://schemas.openxmlformats.org/officeDocument/2006/relationships/slide" Target="/ppt/slides/slide15.xml" Id="R7341b160ffe1417d" /><Relationship Type="http://schemas.openxmlformats.org/officeDocument/2006/relationships/slide" Target="/ppt/slides/slide16.xml" Id="R3d5aad84e0b7490c" /><Relationship Type="http://schemas.openxmlformats.org/officeDocument/2006/relationships/slide" Target="/ppt/slides/slide17.xml" Id="R062212d696c7415f" /><Relationship Type="http://schemas.openxmlformats.org/officeDocument/2006/relationships/slide" Target="/ppt/slides/slide18.xml" Id="R1c33da3b9e564d92" /><Relationship Type="http://schemas.openxmlformats.org/officeDocument/2006/relationships/slide" Target="/ppt/slides/slide19.xml" Id="Rd6da7e13ba8d47fb" /><Relationship Type="http://schemas.openxmlformats.org/officeDocument/2006/relationships/slide" Target="/ppt/slides/slide20.xml" Id="R96e6bbda9ad6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53388f6a304a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8ece87e8141b0" /><Relationship Type="http://schemas.openxmlformats.org/officeDocument/2006/relationships/notesMaster" Target="/ppt/notesMasters/notesMaster1.xml" Id="R205430dac12a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b0e056b2d04b0b" /><Relationship Type="http://schemas.openxmlformats.org/officeDocument/2006/relationships/notesMaster" Target="/ppt/notesMasters/notesMaster1.xml" Id="R62a5b7a8e69d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e2aed2dd044127" /><Relationship Type="http://schemas.openxmlformats.org/officeDocument/2006/relationships/notesMaster" Target="/ppt/notesMasters/notesMaster1.xml" Id="Rf8906ad9f707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414fb20ac64654" /><Relationship Type="http://schemas.openxmlformats.org/officeDocument/2006/relationships/notesMaster" Target="/ppt/notesMasters/notesMaster1.xml" Id="Rc667c6b5eb52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c8bde929d4f03" /><Relationship Type="http://schemas.openxmlformats.org/officeDocument/2006/relationships/notesMaster" Target="/ppt/notesMasters/notesMaster1.xml" Id="Rc4a882b7f3ca48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5c6f0cef4948d6" /><Relationship Type="http://schemas.openxmlformats.org/officeDocument/2006/relationships/notesMaster" Target="/ppt/notesMasters/notesMaster1.xml" Id="Ra73ce1c9440843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12f3b431f4d75" /><Relationship Type="http://schemas.openxmlformats.org/officeDocument/2006/relationships/notesMaster" Target="/ppt/notesMasters/notesMaster1.xml" Id="Rd8185daea674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4b65839114c41" /><Relationship Type="http://schemas.openxmlformats.org/officeDocument/2006/relationships/notesMaster" Target="/ppt/notesMasters/notesMaster1.xml" Id="R498740de9e0343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2792c4f4224d43" /><Relationship Type="http://schemas.openxmlformats.org/officeDocument/2006/relationships/notesMaster" Target="/ppt/notesMasters/notesMaster1.xml" Id="Rc973ea46b26e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254d797a7949b5" /><Relationship Type="http://schemas.openxmlformats.org/officeDocument/2006/relationships/notesMaster" Target="/ppt/notesMasters/notesMaster1.xml" Id="R5088694fe3ff40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b989c194ee4b62" /><Relationship Type="http://schemas.openxmlformats.org/officeDocument/2006/relationships/notesMaster" Target="/ppt/notesMasters/notesMaster1.xml" Id="Rad1a3b68de8e48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cfdd05b22c4608" /><Relationship Type="http://schemas.openxmlformats.org/officeDocument/2006/relationships/notesMaster" Target="/ppt/notesMasters/notesMaster1.xml" Id="R96424975cf6a4b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1663ef6b9341b5" /><Relationship Type="http://schemas.openxmlformats.org/officeDocument/2006/relationships/notesMaster" Target="/ppt/notesMasters/notesMaster1.xml" Id="R83bdd5b808a148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a9c59f466a4878" /><Relationship Type="http://schemas.openxmlformats.org/officeDocument/2006/relationships/notesMaster" Target="/ppt/notesMasters/notesMaster1.xml" Id="Rf2766460807d45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b4c0bd5be04b74" /><Relationship Type="http://schemas.openxmlformats.org/officeDocument/2006/relationships/notesMaster" Target="/ppt/notesMasters/notesMaster1.xml" Id="Rf756734ffa5540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0a5e57ca0b43ee" /><Relationship Type="http://schemas.openxmlformats.org/officeDocument/2006/relationships/notesMaster" Target="/ppt/notesMasters/notesMaster1.xml" Id="R2da7ded6f5ee43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a95a774b33428e" /><Relationship Type="http://schemas.openxmlformats.org/officeDocument/2006/relationships/notesMaster" Target="/ppt/notesMasters/notesMaster1.xml" Id="Rf79f68ddfd3043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cf03e1146a47bd" /><Relationship Type="http://schemas.openxmlformats.org/officeDocument/2006/relationships/notesMaster" Target="/ppt/notesMasters/notesMaster1.xml" Id="Rf7d92dc0a4d749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9c715be4834806" /><Relationship Type="http://schemas.openxmlformats.org/officeDocument/2006/relationships/notesMaster" Target="/ppt/notesMasters/notesMaster1.xml" Id="R59684c0cd4f347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ecb8e8e3cb49a6" /><Relationship Type="http://schemas.openxmlformats.org/officeDocument/2006/relationships/notesMaster" Target="/ppt/notesMasters/notesMaster1.xml" Id="R56c04717684c44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https://doi.org/10.1016/j.rsase.2024.101346</a:t>
            </a:r>
          </a:p>
          <a:p xmlns:a="http://schemas.openxmlformats.org/drawingml/2006/main">
            <a:r>
              <a:t>https://doi.org/10.3390/s19071644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https://doi.org/10.1016/j.suscom.2024.101070</a:t>
            </a:r>
          </a:p>
          <a:p xmlns:a="http://schemas.openxmlformats.org/drawingml/2006/main">
            <a:r>
              <a:t>https://doi.org/10.1016/j.jnca.2019.07.005</a:t>
            </a:r>
          </a:p>
          <a:p xmlns:a="http://schemas.openxmlformats.org/drawingml/2006/main">
            <a:r>
              <a:t>https://doi.org/10.3390/s18041155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https://doi.org/10.3390/app10207379</a:t>
            </a:r>
          </a:p>
          <a:p xmlns:a="http://schemas.openxmlformats.org/drawingml/2006/main">
            <a:r>
              <a:t>https://doi.org/10.3390/s21227593</a:t>
            </a:r>
          </a:p>
          <a:p xmlns:a="http://schemas.openxmlformats.org/drawingml/2006/main">
            <a:r>
              <a:t>https://doi.org/10.1016/j.suscom.2024.101070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https://doi.org/10.1016/j.jnca.2019.07.005</a:t>
            </a:r>
          </a:p>
          <a:p xmlns:a="http://schemas.openxmlformats.org/drawingml/2006/main">
            <a:r>
              <a:t>https://doi.org/10.1016/j.eswa.2023.119747</a:t>
            </a:r>
          </a:p>
          <a:p xmlns:a="http://schemas.openxmlformats.org/drawingml/2006/main">
            <a:r>
              <a:t>https://doi.org/10.1016/j.iot.2024.101248</a:t>
            </a:r>
          </a:p>
          <a:p xmlns:a="http://schemas.openxmlformats.org/drawingml/2006/main">
            <a:r>
              <a:t>https://doi.org/10.1016/j.rsase.2024.101346</a:t>
            </a:r>
          </a:p>
          <a:p xmlns:a="http://schemas.openxmlformats.org/drawingml/2006/main">
            <a:r>
              <a:t>https://doi.org/10.1016/j.iot.2025.101861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https://doi.org/10.3390/s19071644</a:t>
            </a:r>
          </a:p>
          <a:p xmlns:a="http://schemas.openxmlformats.org/drawingml/2006/main">
            <a:r>
              <a:t>https://doi.org/10.3390/s18041155</a:t>
            </a:r>
          </a:p>
          <a:p xmlns:a="http://schemas.openxmlformats.org/drawingml/2006/main">
            <a:r>
              <a:t>https://doi.org/10.3390/s25206500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https://doi.org/10.1016/j.suscom.2024.101070</a:t>
            </a:r>
          </a:p>
          <a:p xmlns:a="http://schemas.openxmlformats.org/drawingml/2006/main">
            <a:r>
              <a:t>https://doi.org/10.1016/j.iot.2025.101861</a:t>
            </a:r>
          </a:p>
          <a:p xmlns:a="http://schemas.openxmlformats.org/drawingml/2006/main">
            <a:r>
              <a:t>https://doi.org/10.3390/s19071644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https://www.kaggle.com/datasets/irmiot22/fsc22-dataset</a:t>
            </a:r>
          </a:p>
          <a:p xmlns:a="http://schemas.openxmlformats.org/drawingml/2006/main">
            <a:r>
              <a:t>https://www.kaggle.com/datasets/deepcontractor/smoke-detection-dataset</a:t>
            </a:r>
          </a:p>
          <a:p xmlns:a="http://schemas.openxmlformats.org/drawingml/2006/main">
            <a:r>
              <a:t>https://www.kaggle.com/datasets/saadmansakib/smartphone-human-fall-dataset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https://doi.org/10.1016/j.rsase.2024.101346</a:t>
            </a:r>
          </a:p>
          <a:p xmlns:a="http://schemas.openxmlformats.org/drawingml/2006/main">
            <a:r>
              <a:t>https://doi.org/10.3390/s25206500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https://doi.org/10.3390/s23042032</a:t>
            </a:r>
          </a:p>
          <a:p xmlns:a="http://schemas.openxmlformats.org/drawingml/2006/main">
            <a:r>
              <a:t>https://doi.org/10.3390/app10207379</a:t>
            </a:r>
          </a:p>
          <a:p xmlns:a="http://schemas.openxmlformats.org/drawingml/2006/main">
            <a:r>
              <a:t>https://doi.org/10.3390/s21227593</a:t>
            </a:r>
          </a:p>
          <a:p xmlns:a="http://schemas.openxmlformats.org/drawingml/2006/main">
            <a:r>
              <a:t>https://doi.org/10.1016/j.suscom.2024.101070</a:t>
            </a:r>
          </a:p>
          <a:p xmlns:a="http://schemas.openxmlformats.org/drawingml/2006/main">
            <a:r>
              <a:t>https://doi.org/10.1016/j.jnca.2019.07.005</a:t>
            </a:r>
          </a:p>
          <a:p xmlns:a="http://schemas.openxmlformats.org/drawingml/2006/main">
            <a:r>
              <a:t>https://doi.org/10.1016/j.eswa.2023.119747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https://doi.org/10.1016/j.iot.2024.101248</a:t>
            </a:r>
          </a:p>
          <a:p xmlns:a="http://schemas.openxmlformats.org/drawingml/2006/main">
            <a:r>
              <a:t>https://doi.org/10.1016/j.rsase.2024.101346</a:t>
            </a:r>
          </a:p>
          <a:p xmlns:a="http://schemas.openxmlformats.org/drawingml/2006/main">
            <a:r>
              <a:t>https://doi.org/10.1016/j.iot.2025.101861</a:t>
            </a:r>
          </a:p>
          <a:p xmlns:a="http://schemas.openxmlformats.org/drawingml/2006/main">
            <a:r>
              <a:t>https://doi.org/10.3390/s19071644</a:t>
            </a:r>
          </a:p>
          <a:p xmlns:a="http://schemas.openxmlformats.org/drawingml/2006/main">
            <a:r>
              <a:t>https://doi.org/10.3390/s18041155</a:t>
            </a:r>
          </a:p>
          <a:p xmlns:a="http://schemas.openxmlformats.org/drawingml/2006/main">
            <a:r>
              <a:t>https://doi.org/10.3390/s25206500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thesis proposal content; no external claim on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5afb42abc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e7fea34784d52" /><Relationship Type="http://schemas.openxmlformats.org/officeDocument/2006/relationships/slideLayout" Target="/ppt/slideLayouts/slideLayout1.xml" Id="Rba3cc29cc078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cc29cc078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f5b3541c44915" /><Relationship Type="http://schemas.openxmlformats.org/officeDocument/2006/relationships/notesSlide" Target="/ppt/notesSlides/notesSlide1.xml" Id="Re768ca633af349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2be7bbd8a48c3" /><Relationship Type="http://schemas.openxmlformats.org/officeDocument/2006/relationships/notesSlide" Target="/ppt/notesSlides/notesSlide2.xml" Id="Rca3045da2c8e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154d6322b4f56" /><Relationship Type="http://schemas.openxmlformats.org/officeDocument/2006/relationships/notesSlide" Target="/ppt/notesSlides/notesSlide3.xml" Id="R7e6bd59783c146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bffafad584784" /><Relationship Type="http://schemas.openxmlformats.org/officeDocument/2006/relationships/notesSlide" Target="/ppt/notesSlides/notesSlide4.xml" Id="R4ea84d3a67244e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8bfea17b44733" /><Relationship Type="http://schemas.openxmlformats.org/officeDocument/2006/relationships/notesSlide" Target="/ppt/notesSlides/notesSlide5.xml" Id="R6dd7fcb038ce45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d60cec26d4f85" /><Relationship Type="http://schemas.openxmlformats.org/officeDocument/2006/relationships/notesSlide" Target="/ppt/notesSlides/notesSlide6.xml" Id="R7e56b836d4a043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bf360c6c64a0c" /><Relationship Type="http://schemas.openxmlformats.org/officeDocument/2006/relationships/notesSlide" Target="/ppt/notesSlides/notesSlide7.xml" Id="Rd99daf600759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1a176d29342fa" /><Relationship Type="http://schemas.openxmlformats.org/officeDocument/2006/relationships/notesSlide" Target="/ppt/notesSlides/notesSlide8.xml" Id="Re60c7e8379d046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3509e280e4245" /><Relationship Type="http://schemas.openxmlformats.org/officeDocument/2006/relationships/notesSlide" Target="/ppt/notesSlides/notesSlide9.xml" Id="R49a65844155443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9f437e2c0446c" /><Relationship Type="http://schemas.openxmlformats.org/officeDocument/2006/relationships/notesSlide" Target="/ppt/notesSlides/notesSlide10.xml" Id="R7ad40b8bcc714d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04d15647940c9" /><Relationship Type="http://schemas.openxmlformats.org/officeDocument/2006/relationships/notesSlide" Target="/ppt/notesSlides/notesSlide11.xml" Id="Rb28b122f0f6247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8542505f6426e" /><Relationship Type="http://schemas.openxmlformats.org/officeDocument/2006/relationships/notesSlide" Target="/ppt/notesSlides/notesSlide12.xml" Id="R6219c54ab38549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235e05d0444a" /><Relationship Type="http://schemas.openxmlformats.org/officeDocument/2006/relationships/notesSlide" Target="/ppt/notesSlides/notesSlide13.xml" Id="R35d5b4873bab4b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cdc90c87a4a5a" /><Relationship Type="http://schemas.openxmlformats.org/officeDocument/2006/relationships/notesSlide" Target="/ppt/notesSlides/notesSlide14.xml" Id="R973a3d7f8b9d45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4e6d7e23b4ec6" /><Relationship Type="http://schemas.openxmlformats.org/officeDocument/2006/relationships/notesSlide" Target="/ppt/notesSlides/notesSlide15.xml" Id="R5ca22a21256246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7f7207467443e" /><Relationship Type="http://schemas.openxmlformats.org/officeDocument/2006/relationships/notesSlide" Target="/ppt/notesSlides/notesSlide16.xml" Id="Ra140694688fc41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04680ac6b47e0" /><Relationship Type="http://schemas.openxmlformats.org/officeDocument/2006/relationships/notesSlide" Target="/ppt/notesSlides/notesSlide17.xml" Id="R214e3ccc27b547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71f98b11b4716" /><Relationship Type="http://schemas.openxmlformats.org/officeDocument/2006/relationships/notesSlide" Target="/ppt/notesSlides/notesSlide18.xml" Id="R3a9c582115884f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5006c38704743" /><Relationship Type="http://schemas.openxmlformats.org/officeDocument/2006/relationships/notesSlide" Target="/ppt/notesSlides/notesSlide19.xml" Id="R905638f20c3e46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0e5d322144358" /><Relationship Type="http://schemas.openxmlformats.org/officeDocument/2006/relationships/notesSlide" Target="/ppt/notesSlides/notesSlide20.xml" Id="R59d815f8e2964c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03D34-4EC7-4D23-BE8D-22160B2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5EA8F-2B3E-4009-8ED0-85622471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E8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E8C8"/>
                </a:solidFill>
                <a:latin typeface="Aptos"/>
                <a:ea typeface="Aptos"/>
                <a:cs typeface="Aptos"/>
              </a:rPr>
              <a:t>M.TECH THESIS • REVIEW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7F823-F74C-41F4-971B-A8110E7A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Dataset-Driven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Edge-AI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4CA3C-E185-477D-99FB-72347540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for Dynamic Threat Assessment and Ranger Emergency Prioritization in Smart Forests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56620-9989-48E2-AA5D-E0BE981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666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6E1E2-92E4-48FB-8070-F9759280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STAGE 1 —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C3D37-048E-430B-AF9B-117CE4F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 by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Prakhar Kumar Singh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A6D64-74D5-4052-B1CF-5E26061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Roll No.: ____________________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Department: __________________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Institution: ___________________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Supervisor: 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13379-30B2-4C1F-9F6C-AC0884D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58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A4 PORTRAIT • REVIEW 1</a:t>
            </a:r>
          </a:p>
        </p:txBody>
      </p:sp>
    </p:spTree>
    <p:extLst>
      <p:ext uri="{BB962C8B-B14F-4D97-AF65-F5344CB8AC3E}">
        <p14:creationId xmlns:p14="http://schemas.microsoft.com/office/powerpoint/2010/main" val="1057773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22CCC-04C7-4196-9CA5-6E9A8AEB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03FE2-D5F6-405A-B60C-53884A07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FA4C0-4A14-40BC-9CE9-C4B10253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The proposal directly covers every Review 1 criterion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C4A-CF35-4FAD-BF7D-F9895A9B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58333-6CE4-413A-9E65-DF000D93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D5263-D726-418C-9EAD-3C5DC2F6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61614-7DB6-4A6C-959F-592EDBCA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52084-1013-4A74-A5EB-B63281EC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09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06CD6-BBF0-47C7-8036-D72D416E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0325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Twelve peer-reviewed papers, grouped by acoustic threats, wildfire detection and ranger falls.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9B3BA-EA04-4DF7-83A5-D3875429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8E0CA-7172-41DA-948E-B6D1B5AD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66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Problem and objectives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97C38-B8D7-426D-99EB-0F62C16E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67200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 precise decision problem, research gap, aim, six measurable objectives and four research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8E8EE-D62A-4CD0-8BAA-545548D3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CFF21-9B1E-445D-A36F-EACEE18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5435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Methodology and work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AF95-C4AE-4079-A248-1C8F2781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934075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Three classifiers, virtual IoT events, a Dynamic Threat Index, evaluation baselines and a 22-week plan.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A3591-F1FE-44D5-88B2-1BD6F3CF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91375"/>
            <a:ext cx="76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9D8D4-F044-471C-8F03-1C2CFA2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2104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Resource 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8DEE3-D440-43BE-A4DB-0C0C9A96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600950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Public datasets and open-source tools keep the project achievable for one researcher at low cost.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D69E7-F617-446D-BEF4-E78A8887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0"/>
            <a:ext cx="64579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93C90-5C6E-496B-8512-1FE6E0B8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010650"/>
            <a:ext cx="561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4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Communication &amp; presentation • 10 marks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53A22-2C20-4CCD-9D91-7FE87983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3154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Clear scope, traceable evidence, readable visuals and a defensible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258589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8765A-B891-472A-8B2E-7A269FD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C5173-3892-4E03-A144-E439A217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E55D2-C772-4888-872F-204D2483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Detection exists; coordinated response prioritization remains weak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DD254-470F-4F2E-90C9-34EA6D5F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7A648-EE94-48BD-982A-301F2D7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2ED42-80A8-42F4-9193-2AEE67D6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D8713-1219-4399-B5EF-E32A5D5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028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9403C-4434-4E61-A5B5-0C038E8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D73AA-7C12-421C-A907-A33AAAE1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Acoustic threats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CAEBD-99B2-4744-9C11-837C80AE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Chainsaw, gunshot, vehicles and suspicious human activity generate independent predictions.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D6BB2-1520-4054-BD5C-5B9C4B3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90750"/>
            <a:ext cx="3028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63E0D-F00C-4A63-8656-F404E04F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90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0F5F3-ECAA-4A25-AAE6-77DD49C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Environmental hazards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A6E28-8EE9-4847-B08F-501CF8ED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Temperature, humidity, smoke and gas measurements generate fire-risk predictions.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FDF63-2FF7-4850-B988-3AA1301D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3028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01A69-F6E2-4CD7-91BC-29797A02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5990F-808E-4E7D-B4B2-518F55E4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Ranger distress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4CF61-6727-45A3-A134-C3C8184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Wearable or smartphone motion data can identify falls and abnormal activity.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1598B-FA6A-4C3B-84EC-5687126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48125"/>
            <a:ext cx="3028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8BE1E-D476-4AAD-AC1C-DAE62A0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481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B7120-386D-49EB-AAA3-B34B278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386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Operational 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5A445-9D4F-47D4-B772-CD05763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38675"/>
            <a:ext cx="262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When events occur together, which zone should authorities attend to first?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977A0-BB0C-4A82-AB15-700DCE59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4579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ECC67-AEA3-4433-BDEC-CB0D0AE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1E068-29C8-428D-B2D0-6327195E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53250"/>
            <a:ext cx="5924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5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 and evaluate a dataset-driven Edge-AI framework that integrates forest acoustic threats, environmental fire risk and ranger fall detection, then converts their outputs into an explainable real-time Dynamic Threat Index for emergency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514275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F5A8A-6A44-4B74-A7CE-4B2BD0B0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60AE8-9CB5-4B26-BA6F-56EB4F8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CEFB6-FD15-441F-8CD4-35F3ED5D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The literature solves three detection problems in isolation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97EA5-3288-4983-87A2-C168D6E0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C4285-B6DB-40B2-B360-0F5E851D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EFD71-7CF4-4F48-B60E-669CA71F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01968-D088-452A-A5BD-94E17C6E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2CD4C-D42B-4E34-9ED7-545CB5A7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STREAM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E4509-2919-4986-B69F-CC55F7C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Forest acoustic surveillance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AC81B-3FAD-4D94-96D3-63369AA9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Classifies chainsaws, gunshots, fire, vehicles and normal environmental sounds.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152CF-7A70-4902-9D2C-E6D18B0B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98E0F-E5CF-4076-9674-B7CD30A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C7419-6E50-4BAE-9AFD-699EECA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STREAM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373FA-CE29-4942-9E7E-C7DF95E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Wildfire sensing and Edge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A50CD-4825-4E9C-B705-3FE7C6C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Uses sensor nodes, cameras, UAVs, fog computing and lightweight classifiers.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6B119-F198-43DC-AEFA-9632C807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648CB-D286-4D9E-90A8-A298D79F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31E7D-56C3-43C6-9EFB-1416742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531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STREAM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84C08-D234-47B5-8D49-D8C35F9D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818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Smartphone and wearable fall detection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9CD81-67E4-49BB-ADA2-A59EB63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818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Uses accelerometer and gyroscope features to distinguish falls from normal activity.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B382F-D2BF-4554-8DFF-F4C4A2F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43875"/>
            <a:ext cx="645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4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F0E5D-21E9-410F-94D9-091673F2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362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Shared limitation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DF5BE-E846-4C1C-8818-87D2F5E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24900"/>
            <a:ext cx="598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Outputs remain separate; they do not create a confidence-aware, context-sensitive response priority across forest zones.</a:t>
            </a:r>
          </a:p>
        </p:txBody>
      </p:sp>
    </p:spTree>
    <p:extLst>
      <p:ext uri="{BB962C8B-B14F-4D97-AF65-F5344CB8AC3E}">
        <p14:creationId xmlns:p14="http://schemas.microsoft.com/office/powerpoint/2010/main" val="58441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452024-9BFD-43C7-ADCE-CEF31A42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4A039-4B11-4042-B47E-EB5DB79E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CCBD1-A6A7-452A-B975-96C1E3BD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Literature evidence I — acoustic threats and anti-poaching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B7505-47EB-48A6-B2BA-8078B71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D563-6541-4C4F-B27C-73C4B8FB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213F1-5F54-4C93-87DB-6E44252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223A5-895B-4D42-8A79-5E5EFF4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56D98-5C1F-4241-82ED-A1FBF56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D829E-FA4B-4F0C-9AFD-48D7F1E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2407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Forest Sound Classification Dataset: FSC22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C122D-391A-468C-8DD1-8F0D624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Sensors, 2023 • 2,025 clips • 27 forest-sound 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267D9-E641-4BF1-B59D-DBA2A5A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Audio classification is not converted into emergency priority.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5911F-C6A7-4E7F-A0FA-6D81672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385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903EE-CE6F-4B64-A48C-DF8640E6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69604-A12C-4DAC-B54B-37EF9178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16D68-0113-43F8-9736-426487AF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4332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Illegal Logging Detection Based on Acoustic Surveillance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CAF2F-658B-4C13-B844-CE1C5A83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Applied Sciences, 2020 • Chainsaw recognition under forest background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D2740-6D96-4C91-B681-5356D05C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Addresses illegal logging as a single binary threat.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B7DE1-0173-4D18-BF85-9E4DB1D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5777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04BAC-B7D0-413E-9078-E3B1718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C9523-1B3E-488F-B498-250E284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EA1DF-417C-40EC-BAF4-7267B08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6257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Monitoring Illegal Tree Cutting through Ultra-Low-Power Smart IoT Devices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4DA86-52BF-43D1-9CD9-E6D22E4D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Sensors, 2021 • Lightweight CNN and long-range edge communication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2CE87-EF98-4A56-A2D0-2861876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7695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No ranger-safety or multi-risk fusion mechanism.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3A49A-9117-48CE-AEC3-F86F8BC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770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0F04B-8BD5-4377-9780-5EAE2D57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008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B7BBA-B4D0-4E1C-B7C2-7755837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96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2DFFC-29A5-421C-9621-D985588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8182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7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Energy-Efficient Fog-Based IoT Framework to Combat Wildlife Poaching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313E7-1BC5-46D6-A0C8-A967DA3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4104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Sustainable Computing, 2025 • Motion, cameras, MQTT and distributed edge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585CC-17A7-484C-90C8-2AD3501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69620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Optimizes monitoring latency and energy, not unified threat priority.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8988F-DBAA-479B-A387-EB49E3C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29627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B7291A-1535-4E1D-8C07-0B97DA44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F6DF32-3042-416E-9C1C-98B4C46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820150"/>
            <a:ext cx="531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Acoustic detection is technically feasible; the open opportunity is what happens after detection.</a:t>
            </a:r>
          </a:p>
        </p:txBody>
      </p:sp>
    </p:spTree>
    <p:extLst>
      <p:ext uri="{BB962C8B-B14F-4D97-AF65-F5344CB8AC3E}">
        <p14:creationId xmlns:p14="http://schemas.microsoft.com/office/powerpoint/2010/main" val="1997172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775C6-5F69-47B7-BB3B-26F92D34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9DF98-4C75-41DF-920A-FE69F19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DC17C-0916-4ECA-B632-74553CD7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Literature evidence II — wildfire sensing and edge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0172B-358B-4959-8979-5133A713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B0316-46A4-401F-A5CD-F462D3C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955AA-4146-4DF7-B3EA-842CB17F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D8D21-30AA-428A-876F-D8671A38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56219-2F44-47C7-9050-704F562C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6C525-F67B-4DA7-8BC7-5BACE734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Fog-Assisted IoT Infrastructure for Wildfire Surveillance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01444-78A4-4645-BC3E-0A03AFBB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86025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Journal of Network and Computer Applications, 2019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B65E3-2F6F-4F26-9DEF-135A95B1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71775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Wildfire-only architecture; no acoustic or ranger-risk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6952C-2B02-4F4E-953B-DCA267A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83EA9-E0E3-4DC2-9D4F-AFA2A01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0EB2C-11A6-41B5-84FD-129A29F6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1B8CA-61F4-4116-B7E8-8DDFF87C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EdgeFireSmoke++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39FDA-1612-452A-ABE1-DBB2EDC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14775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Expert Systems with Applications, 2023 • Real-time visual fire/smoke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33620-9386-4860-8CE5-3B7EC455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Camera-based fire detection without cross-domain risk scoring.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80192-1685-4601-9DB7-39A4B9F1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11FA7-96F5-4DFD-92F7-BD0EFFC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518A9-F40A-47EC-99B8-E224E6C7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3C3BC-1D00-4AFD-8C5F-D982742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AI-Powered Drones and IoT for Early Forest Fire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8F078-EF0C-45B1-895B-CB2AAD94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43525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Internet of Things, 2024 • LoRaWAN, UAV localization and 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A19F9-998D-45D6-A7AB-E4560AE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29275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Accurate but hardware-intensive and fire-specific.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81DE1-3460-44B5-81D3-947BAB11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29350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7D539-B4E0-4452-82E3-258DBD2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50F69-58E3-450E-9E8E-108675B3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75C52-5801-42A7-8D35-5064E738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436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Early Wildfire Detection Using Machine Learning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2E58A-3E6D-412C-AD3F-75D2C42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72275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Remote Sensing Applications, 2024 • Temperature, humidity and smoke sensors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F0647-5E40-4F17-A84F-959E77DB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58025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Predicts fire but does not rank simultaneous forest emergencies.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067A6-75A8-4EF7-B529-E933122B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658100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E7F7D-27F1-4DE8-B258-3E65340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91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2C435-24C8-4E5D-A18C-1DB2FB9E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86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91154-2497-4BCD-A8DE-A80D045E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7724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Edge-Intelligent Three-Tier Forest Fire Framework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13685-6DC6-4945-BE2B-AF1CF1D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201025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Internet of Things, 2025 • WSN, multimedia sensors and UAV confirmation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52D565-5807-4232-B6AE-8AB7A05C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486775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Strong validation, but operational scope remains fire-specific.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826E94-DF8A-4061-8793-66227AC0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086850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0360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4C99D-EE97-452C-A4E1-3648CE99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1D2C2-810E-4D29-9356-F8A6338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1CCA1-57E2-49EC-8141-AE299C5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Literature evidence III — ranger fall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2E29C-DA7B-4E40-9D69-881DA2F8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73D27-430E-4D28-8C7F-863036F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0AB17-AA1A-4BC0-AE3A-D699F39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C52F7-E35D-495F-BB4E-DD9ED72E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76338-0C8C-4B40-92EC-D009E58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01626-E46A-43CA-B47D-321D048F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1932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Accelerometer-Based Human Fall Detection Using CNNs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897C6-E942-4FF5-9B77-82DCF09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Sensors, 2019 • Smartphone accelerometer • Multiple open datasets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9345F-9BDD-4858-B43B-6F7096A0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370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Healthcare-oriented; no forest-zone emergency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A82F9-AFA4-4511-A0C5-B72C511E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1107D-CC8C-459F-A97B-25AF0117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40107-3989-4F17-A79C-D6C0DC8E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FE657-745B-49CE-9C99-82E7D426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957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Smartphone Architecture with Multiple Mobility Sensors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CCB4D-8669-46CD-91A3-4FEDADFF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Sensors, 2018 • Supervised learning and inertial sensor placement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6E733-24D6-4E68-8FD7-866CB12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Falls are detected independently of hazards and location.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FD453-A582-4DA4-85E2-1EC2CF88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340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F4B98-BDC7-4EA6-8D5A-E56A700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20C1B-BB13-497C-BFC6-CD5E45F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63234-A1E6-4D0B-9DEB-F8FA5424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9825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Feature Engineering for Smartphone-Based Fall Detection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BF893-23AC-45A5-8C9B-809E6127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4845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Sensors, 2025 • KNN/SVM • Same-dataset and cross-dataset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EC091-9EC8-4834-90C3-FAEB5D5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34200"/>
            <a:ext cx="5791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Gap: No integration with environmental or security threats.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AE7F5-99CE-4EC1-B98B-37D8D6E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53427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90D1E-BD39-4686-B926-6D011F72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77250"/>
            <a:ext cx="64579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F3578-7669-49C0-8540-E3F08899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86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Thesis adaptation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4A2CE-E00C-4767-B7F3-F451EE07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201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2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Treat a detected fall as ranger distress, then raise its response priority when another threat is active in the same zone.</a:t>
            </a:r>
          </a:p>
        </p:txBody>
      </p:sp>
    </p:spTree>
    <p:extLst>
      <p:ext uri="{BB962C8B-B14F-4D97-AF65-F5344CB8AC3E}">
        <p14:creationId xmlns:p14="http://schemas.microsoft.com/office/powerpoint/2010/main" val="26013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213D6-1EA3-4ED7-9C22-59129C4E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76067-21FB-4F95-82DB-F0E9EBE7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C2B6E-023F-49F7-8D0B-9C99054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The proposed novelty begins where individual classifiers stop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0283E-4266-48D9-A935-B9AEF474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4E339-603E-4F9A-BF9F-18FBB9A5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8A57B-48C7-4D87-9C64-5238A82B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0FCA7-18A5-4F7C-AB2B-F03FC866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Observed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052EB-96B3-4403-A7D4-ABBDB962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64579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3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Single-threat models dominate the reviewed literature.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3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Independent alarms do not establish a response order.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3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Confidence, persistence and same-zone correlation are rarely fused.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3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Ranger falls are studied mainly as healthcare events.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3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Hardware-heavy systems are difficult for one student to reproduce.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C9A1-77FA-4CB6-9853-133D0F4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6457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F4641-2F11-4CF8-9473-85F2542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PRIMARY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6064A-05C5-4FA9-A4B9-148E807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588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confidence-aware and context-sensitive Dynamic Threat Index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BC0D5-2826-4537-8939-2F0961E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77125"/>
            <a:ext cx="588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5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It combines acoustic threat, environmental fire risk and ranger distress into one explainable score and recommended response level.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89AE5-A914-42AB-86B9-D1F64685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Careful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DAEF3-446A-48FB-80D0-D901058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89154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The thesis claims limited integrated evaluation—not that no integrated system exists.</a:t>
            </a:r>
          </a:p>
        </p:txBody>
      </p:sp>
    </p:spTree>
    <p:extLst>
      <p:ext uri="{BB962C8B-B14F-4D97-AF65-F5344CB8AC3E}">
        <p14:creationId xmlns:p14="http://schemas.microsoft.com/office/powerpoint/2010/main" val="1190141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DB1945-08D7-44E2-A675-8AB4B666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CCC91-5283-4A1D-8940-9B7EE90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050F7-5D3D-416F-98F5-02B38D6B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One aim translates into six measurable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B156A-24DD-42B5-B8CE-98DCB4E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60425-B499-48B3-98EF-56E91F00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A283A-E3D5-443C-90B7-80AE7286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5CAF4-D930-457C-945F-0ECF8E4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579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1E80E-80FF-4649-9AF4-0F530FAD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05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996F6-F37E-467E-A2B7-CFCDD308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860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10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and evaluate a lightweight dataset-driven framework that detects multiple smart-forest threats and prioritizes emergency response using an explainable threat index.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A3F56-9FA7-432F-91DB-16A41B60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64579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F6C81-1AD6-4927-B053-CA813BF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C762C-EBE4-4965-92CA-71BFB673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E71EB-BDA7-4A7A-B456-16A72867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B4083-FF62-4273-B91C-1C4CBED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6717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B9A5B-BCBA-493D-BA76-FDD7840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5562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Establish the evidence base and research gap.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B6929-72CE-48F2-931A-0D198CF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64579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F322E-2B18-4704-835D-A85D5E23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89B85-F0D3-451D-85AF-1209442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7317E-7D18-4C0A-B0E9-569068B1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0C188-4C6B-44F2-B711-23D0BD8A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8157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84DD6-C8CE-4285-BC5C-8FC64E43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62575"/>
            <a:ext cx="5562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Audit and preprocess three public datasets.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ADF24-2EB6-4F72-8F6E-2937342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64579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AB6CE-2768-424A-B4FF-C7719D49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1AE88-9362-4E9B-81B0-D94D39C4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EAAD1-9420-45CC-80A9-EA1E691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21C5A-B625-4A24-B065-194B75D1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9597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32C7C-6635-4D1A-9018-C50E23F9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76975"/>
            <a:ext cx="5562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Train three lightweight detection modules.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DE10A-D0B6-446F-BB70-CF1B1192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48450"/>
            <a:ext cx="64579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66D3E-2394-49A9-9130-753A8EF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48450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507328-0E0D-4E97-8964-F9CFC256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D4F99B-0E78-4A50-8744-ADE8B6EF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65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F594AF-87A5-4F5F-A720-B29D82E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037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03C11-AA01-43CB-8BE2-C56C0ACE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5562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Generate timestamped virtual IoT events by zone.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2A0300-0163-4932-89DF-E3F063A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62850"/>
            <a:ext cx="64579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8CB360-27E8-43F2-9108-BC14CE08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62850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F82E3D-DBFB-427B-86A0-07DC70CF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06CF5E-99DB-4605-8F03-A512B75B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009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4CBE8-EA49-45C4-B28D-A116F7E3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2477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Fuse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A35B97-F809-440F-AD46-4A57BB75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05775"/>
            <a:ext cx="5562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Implement severity, confidence, persistence and correlation.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8E3014-3B8B-41EF-B44E-B5F9EAC2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77250"/>
            <a:ext cx="64579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57883D-2EE7-4DA2-BB23-73B4BA2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77250"/>
            <a:ext cx="762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AB9CF4-03FD-4977-A69E-8893865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BF9EE2-E338-4228-B6A4-FE5DC29C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153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1F5D3F-EEB7-4212-AE2D-ECF963E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3917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9C121D-2304-4E11-A47F-9452CB7A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020175"/>
            <a:ext cx="5562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Compare DTI with static and fixed-threshold baselines.</a:t>
            </a:r>
          </a:p>
        </p:txBody>
      </p:sp>
    </p:spTree>
    <p:extLst>
      <p:ext uri="{BB962C8B-B14F-4D97-AF65-F5344CB8AC3E}">
        <p14:creationId xmlns:p14="http://schemas.microsoft.com/office/powerpoint/2010/main" val="861874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F7B51B-E246-4012-AF0D-E1CA269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88D7F-5094-44D2-952E-D0DFDA35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A730F-33A5-4575-8725-D1BB33DA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Three public datasets keep the individual project feasible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C4DA8-F226-4A51-A602-1C93A14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31664-A81D-4A90-B19E-7A52B841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0227A-3AC3-4866-8136-458A9FB5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E5C78-44F4-4F6A-B113-067E89A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6457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C4B52-380B-4FBE-8199-CEE811DA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EDB0A-843C-498D-AE51-CA5FC5A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ECFF3-8A50-4CD9-809D-E1E89D84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4B08E-5B34-445C-B18F-649A5800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FSC22 forest sound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54B31-E080-445C-BC73-CCE91CA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556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Use: chainsaw, gunshot, fire and selected normal forest sounds.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Structure: 2,025 five-second clips across 27 balanced classes.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Model input: MFCC or log-Mel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4E36A-2941-4DEE-8381-2018F75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6457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EBE47-8BFE-4347-8C8B-C91DFD6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14D8F-6A5B-44D0-9639-6272F870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7BC7D-FC78-42B5-A9E6-823ACA9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8ACB3-1F7D-49A3-9440-E9647EE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Smoke Detection IoT dataset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FF804-B042-4DEC-9E0E-EA4698E5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556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Use: binary fire-alarm prediction.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Structure: nearly 60,000 readings at 1 Hz.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Features: temperature, humidity, gas, smoke and particulate measurements.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F0E43-00FF-4BB9-BB61-9131D2D0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6457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A58C9-3939-4CC1-B58A-99122AF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1086A-D13D-4EA1-B881-7F4AC241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2DCD3-8B5E-41FD-A6E5-95DC620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A4F31-3B2E-4894-883E-43D0C54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960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Smartphone Human Fall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22CEB-FB96-46C6-87E4-E119DCB7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77050"/>
            <a:ext cx="556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Use: ranger fall versus normal activity.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Signals: accelerometer and gyroscope-derived variables.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Important limitation: derived CSV files do not expose participant IDs.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E1106-DCB0-4017-AA6A-E0B2FC0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0"/>
            <a:ext cx="64579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0E4EC-5999-4289-A864-173CF380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COMPLIANCE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37004-D964-4307-A625-8EA30B1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8724900"/>
            <a:ext cx="4505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0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Record dataset provenance and licence conditions before publication; replace the smoke dataset if permission is unsuitable.</a:t>
            </a:r>
          </a:p>
        </p:txBody>
      </p:sp>
    </p:spTree>
    <p:extLst>
      <p:ext uri="{BB962C8B-B14F-4D97-AF65-F5344CB8AC3E}">
        <p14:creationId xmlns:p14="http://schemas.microsoft.com/office/powerpoint/2010/main" val="749099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0A074F-0139-44A2-9228-2C5D66D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1CBBD-7EF3-46F3-8069-8D5BF9C8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8EFA1-21BC-481A-AE0F-27ED85B1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Methodology moves from clean data to prioritized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9A5A0-A187-473A-A371-8575DDCE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06876-33AB-4832-9B0C-3877672F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5107C-4FEF-4115-B186-9F0F30DF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C6EA1-380D-4924-8CE4-10BCC70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67158-157C-4B64-A470-A6EED21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EE4A7-9A39-4C92-986D-3B1BD1C5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9888B-2704-428B-9210-22E74CB1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28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Dataset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243B2-4DE4-4C78-A5C6-23761F4A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90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Licence, provenance, missing values, class balance and leakage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E18C6-970A-44D4-8639-A5981882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FC7EB-510B-47CF-AA02-E1305032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F697B-BB68-4EDD-9CA5-BA8EED5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B35C8-2ABC-4015-BD51-6912140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71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ED46A-C437-4B39-AA17-DF4F6658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Scaling for tabular data; MFCC or log-Mel features for audio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FDB07-9365-4A38-BDE9-40BC28D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99875-3828-443B-9A12-FE69D5E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1A8A8-932C-43B2-AF09-6ECC9B2B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DFEB2-89FF-43F6-B206-B7D4A5A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Model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04654-7981-4023-B2C3-7F10EEBB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Classical baselines versus a lightweight CNN for acoustic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3D4FC-0B39-4FCD-ACD8-8B3563A3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FC1CC-3670-4E09-B8F8-644E7DA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372FF-4126-4504-A429-2C996C62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6DE72-34F6-498D-9756-2F168CB3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57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Virtual IoT simulation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F9883-E749-4930-98DE-12DCE026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019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Attach node ID, zone, timestamp, event class and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0F1C69-53F4-4E17-87C1-F8725665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86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33A23-1A98-4DEA-8E10-1DDBE019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62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2A388-CBB6-449B-8118-F1C01EF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342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C6CFE-581F-4513-9ADA-E103FE6A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800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Dynamic threat fusion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C14B5D-1F04-4887-8A52-F2CC3F23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62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Combine severity, confidence, persistence and same-zone correlation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90867-FF07-4FD9-B63E-8D299DA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05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A39E9-96C4-45A8-AE3D-89BC0DA3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772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7FABF-1398-4423-8BFC-6E897AB8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94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C5B087-5C18-418D-9AE8-B11BCB5A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83058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Classifier metrics, DTI baselines, ablation and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1027650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1CA1F-15F0-419B-B4F3-695784F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A2C11-76A2-4420-9FAC-91FD3086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F3ED4-2F93-4459-B823-12D5F62B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The Dynamic Threat Index is transparent and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4F4F2-A80E-4E82-9439-369584C8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EEE48-C2DB-4971-8A34-2054888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E8246-A3B0-4131-851F-1D29FBC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B87D2-64A8-44DC-9E7E-3A65C43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6457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31F87-1AE6-4190-B873-C460F7D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07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DTI = min [100, 0.40A + 0.30F + 0.30R + Bc]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1504D-BDA9-43A0-940C-B83E806D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A = acoustic threat   •   F = fire risk   •   R = ranger distress   •   Bc = correlation bonus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9CE84-8554-4B52-B0DA-A6B9672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Component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2A39B-72B5-46F3-AA88-4EAFEFA0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6457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CC7B9-8A1D-42E1-993E-C5054857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62500"/>
            <a:ext cx="598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Severity  ×  Confidence  ×  Persistence  ×  Zone factor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7582C-1AB7-46DD-9DE2-71D856F3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737D8-D2A1-4738-895A-821015E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0–25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5CFF8-EFB9-4A45-8286-EF1E87C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21EF6-3119-4967-A774-B6E8B18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2579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Continue 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E0BAC-B12C-4400-B6F6-2803C98F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453ED-CAD4-4B71-B93B-41D86268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26–50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D4B76-9889-43D3-8B93-0A0F6B5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7818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8B2F1-07FC-44A7-8DF1-6195C55C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0580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Notify operator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844E0-A1A2-4076-B0A1-ABD8F770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057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4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9308A-FC06-441F-BD2A-2D0E391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58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51–75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3C1F0-B4A8-4A30-AA07-A09D2C7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5819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477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47732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BDD6C-64B6-4DE7-B215-D8EEEE1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7858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Alert ranger team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0E7B3-B791-4F27-BE26-12DA37B2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058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32283-1250-4BF3-BB52-41F76CC9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582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76–100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950EF-05A4-48B6-AAC0-776B6BF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382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8445E-B2A8-4EBF-AEBD-19A51E87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86582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Immediate 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9CE37-EA1A-45C7-BD52-9F21B61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91625"/>
            <a:ext cx="645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Weights are initial assumptions and will be checked using sensitivity analysis—not presented as universal constants.</a:t>
            </a:r>
          </a:p>
        </p:txBody>
      </p:sp>
    </p:spTree>
    <p:extLst>
      <p:ext uri="{BB962C8B-B14F-4D97-AF65-F5344CB8AC3E}">
        <p14:creationId xmlns:p14="http://schemas.microsoft.com/office/powerpoint/2010/main" val="20375915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03BCC-8AB2-42E6-B003-2851C03E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A4DCD-3D0E-4357-9039-98A17217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6A5C-BA45-4138-834D-D78930A7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Working flow — from dataset record to emergency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DAB22-247A-40AA-A4DC-40B970A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AE608-062A-446E-A4A0-D475A9D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C8872-B013-4AC5-A5AE-AE0848F5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FEC95F26-003F-4436-A73C-57D2B86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56A3ACC7-C76D-437A-9D37-F03C0172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43125"/>
            <a:ext cx="1952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3">
            <a:extLst xmlns:a="http://schemas.openxmlformats.org/drawingml/2006/main">
              <a:ext uri="{FF2B5EF4-FFF2-40B4-BE49-F238E27FC236}">
                <a16:creationId xmlns:a16="http://schemas.microsoft.com/office/drawing/2014/main" id="{E400CD10-855B-486F-83EA-1B6E387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952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4">
            <a:extLst xmlns:a="http://schemas.openxmlformats.org/drawingml/2006/main">
              <a:ext uri="{FF2B5EF4-FFF2-40B4-BE49-F238E27FC236}">
                <a16:creationId xmlns:a16="http://schemas.microsoft.com/office/drawing/2014/main" id="{C8515FB1-A044-40D8-A393-E269805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810000"/>
            <a:ext cx="1952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5">
            <a:extLst xmlns:a="http://schemas.openxmlformats.org/drawingml/2006/main">
              <a:ext uri="{FF2B5EF4-FFF2-40B4-BE49-F238E27FC236}">
                <a16:creationId xmlns:a16="http://schemas.microsoft.com/office/drawing/2014/main" id="{44DB2D46-E97C-429A-8154-DAE37340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952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6">
            <a:extLst xmlns:a="http://schemas.openxmlformats.org/drawingml/2006/main">
              <a:ext uri="{FF2B5EF4-FFF2-40B4-BE49-F238E27FC236}">
                <a16:creationId xmlns:a16="http://schemas.microsoft.com/office/drawing/2014/main" id="{F214DBDD-B9EA-48C1-AB40-D4FB198E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810250"/>
            <a:ext cx="1952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7">
            <a:extLst xmlns:a="http://schemas.openxmlformats.org/drawingml/2006/main">
              <a:ext uri="{FF2B5EF4-FFF2-40B4-BE49-F238E27FC236}">
                <a16:creationId xmlns:a16="http://schemas.microsoft.com/office/drawing/2014/main" id="{47774A2E-E965-4F58-BF6F-BFB479A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858125"/>
            <a:ext cx="4191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05075" y="2571750"/>
            <a:ext cx="2552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9C8BF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528763" y="3000375"/>
            <a:ext cx="45053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B9C8BF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05075" y="4333875"/>
            <a:ext cx="2552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9C8BF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528763" y="4857750"/>
            <a:ext cx="450532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B9C8BF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05075" y="6334125"/>
            <a:ext cx="2552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9C8BF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3762375" y="6858000"/>
            <a:ext cx="227171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B9C8B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CD7D0-539A-4CD8-8731-E83B4413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1724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ECAC6-904F-42F9-A9EB-1740FED3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14575"/>
            <a:ext cx="1724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09D52-E279-4443-AC56-71B80F4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DETECTION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64D20-9F2C-4C2D-BFA6-12CA1AA9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8145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EVENT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2944D-FF25-4768-93CD-A8550E3C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VIRTUAL IoT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NODE + ZONE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1CE17-D2D9-4255-8CD3-8579B8B1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817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DYNAMIC THREAT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B60E4-0956-48FD-823B-9DD667FC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8029575"/>
            <a:ext cx="3962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 • THREAT LEVEL • RESPONSE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CC630-085B-4BA0-8AEF-5F5977CC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239250"/>
            <a:ext cx="645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Each event retains traceability: source model → confidence → zone context → DTI components → final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8546795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863A5-4B5D-4B3B-BFBC-974E502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F8313-E331-43EE-8680-F623CED1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B720-A934-43C4-BE57-BF661A03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Evaluation separates model quality from decision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069BB-D1B6-4B5D-AC5C-7F5EF6C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543C9-DE73-4C33-8A16-3513BF68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5FBF7-8720-4ACD-A1AB-F41A474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98BA2-423A-49C0-8974-B01AB24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Individual classifiers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8E757-EBFD-47A8-A0AF-C75804C3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45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Accuracy, precision, recall and F1-score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Confusion matrix and ROC-AUC for binary tasks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False-alarm rate and critical-event recall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Inference time and model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94F77-5E63-4F6E-93B4-0B0D1EC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CDC5-288A-4DEF-A922-B1422B65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Dynamic Threat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DA4E-0976-48B5-BAB4-361CCAA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645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Threat-level classification accuracy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Critical-event recall and false critical-alert rate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Average alert delay and ranking accuracy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Robustness when one input is missing or uncertain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D9A14-DEAD-4860-B1DB-E48B3029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43875"/>
            <a:ext cx="645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AD3DD-50B2-4303-A5A3-869E4B8D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62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81EA8-994A-408D-944C-2D7D7812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3442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47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1  Independent fixed thresholds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2  Static weighted score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3  Proposed context-aware DTI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162D6-9697-4B48-8A32-D62A751C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8362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536F-D2AC-4306-BB99-868DFD3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87344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Remove confidence, persistence and correlation one at a time to measure their contribution.</a:t>
            </a:r>
          </a:p>
        </p:txBody>
      </p:sp>
    </p:spTree>
    <p:extLst>
      <p:ext uri="{BB962C8B-B14F-4D97-AF65-F5344CB8AC3E}">
        <p14:creationId xmlns:p14="http://schemas.microsoft.com/office/powerpoint/2010/main" val="9543549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820FC7-8C65-4C82-8612-01A601F6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78543-B9B6-40E2-94AB-E209D9A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60F34-5034-4272-AACD-D595565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Resource planning supports a low-cost individual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AF7B3-91F2-4142-8629-76A109C0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A6049-7104-4988-A6D3-E0CFF8C2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7F7A8-4CFB-48B3-B165-958404D2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BA6C-718C-4799-AF1E-13D1D3B0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RESOURCE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6FDF4-E2D8-44F1-9499-0B42C05B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4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PLANNED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FF099-261F-44AC-8A0B-D0BA705F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431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2D013-386F-4C8C-9594-2077FE4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92AD2-4C3B-4402-AF5B-470A0112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6457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E4823-CDE4-429A-9304-F9616E1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Public datasets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59A44-03C4-4C26-BE49-3D68B7A5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432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FSC22, smoke detection, human fall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C4D22-3DA2-471B-ABD1-2E3DBAB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4320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₹0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51BF6-9609-40D1-86AB-60FC3B1A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1E511-91F2-4479-96E8-43821A5D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6766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Python, Jupyter, Scikit-learn, TensorFlow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68473-0CE2-4C7C-8544-8778FCEE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67665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₹0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2CD3E-5743-42B5-A5E3-09A44A5E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86275"/>
            <a:ext cx="6457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F1AF6-0359-492F-99AF-466D916C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F4B5E-3D72-4F76-9E5A-9AFA1893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101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Streamlit and local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FC046-42D5-4698-859B-8D33FA5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61010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₹0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25D35-948C-4BDA-9C35-13CD200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Compute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E7284-81F5-41F0-88E8-76C18746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5435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Existing laptop / free Colab tier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2AF65-AA37-4B9A-8932-855CE52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54355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₹0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DF36A-3A38-49D2-B580-AA5657CC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6457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F33859-6636-40A1-91A9-F9405F2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B4AC7-F36A-479D-9D18-ED62FD46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4770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Printing, binding and backup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02721-8263-4224-A343-9E8D057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47700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₹1,000–₹3,000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C01AA-618A-44FA-9E80-60817994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045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Optional prototype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F88A83-1432-4373-B556-49CF1B4B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74104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ESP32 demonstration only if time permits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E3FCD5-38FC-4312-88F5-D93269D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410450"/>
            <a:ext cx="128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₹500–₹900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31C264-A485-44FC-97FE-1CCA328D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0"/>
            <a:ext cx="6457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8A5F52-C47A-4129-A1F5-257ECF0E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63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FE9DF"/>
                </a:solidFill>
                <a:latin typeface="Aptos"/>
                <a:ea typeface="Aptos"/>
                <a:cs typeface="Aptos"/>
              </a:rPr>
              <a:t>EXPECTED CORE PROJECT COST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257AED-F7A3-4E38-A24C-5B9F310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86868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₹1,000–₹3,000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66C783-A691-4A56-B37E-50539DBC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124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2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9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FE9DF"/>
                </a:solidFill>
                <a:latin typeface="Aptos"/>
                <a:ea typeface="Aptos"/>
                <a:cs typeface="Aptos"/>
              </a:rPr>
              <a:t>Physical sensors, LoRa and UAVs are not required for the first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466503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9DA120-04D5-4F66-9D95-3955F99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34C2E-C6E3-4495-BBC1-6800A95C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8D9C8-604D-40A4-8CA3-F0AB3428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A 22-week plan controls scope and leaves time for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DDA88-7C6A-4DC5-9326-E9C4DD09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FF02B-8310-4FD0-8455-4AEC216B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F6036-D47C-4FA2-995D-97B7FCB9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55FD2-E262-4E0E-B679-19E5E962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362EA-30D5-4BA3-ABA7-D049DE7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240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Literature and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C8DA8-8548-4BA2-8BD8-B5115009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240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1–3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8C083-ABD4-495F-A034-D020E1A2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BDA1A-CF9A-43BA-89F9-248DE207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23431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1FDDC-5B6C-4DA3-8631-5E8ADB9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3E32-413E-4F01-A520-88D9F32E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Dataset audit and preprocessing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719B2-6700-4D9A-A2BF-0B857DA6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575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4–5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900FF-18AA-4BAE-A722-B6B47DB3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6B682-2B8A-4941-906B-605C05D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15621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CAA9A-FA52-4F90-AB7D-0DAAC235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A3CB0-ECAB-486C-A748-103089AC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Baseline model development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B67B3-8B97-4971-86E5-058A7762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9909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6–8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18217-CACC-4F91-A35F-835147F8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586A6-1A03-4AF7-8242-A00C2E84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23431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9D1D0-B4C5-4E91-9A03-5621231D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D00E7-6ED3-4ADD-9BF7-66C6B5A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Virtual IoT simulation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A0D1F-B978-480E-854D-74E8F23C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9244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9–10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ADCE8-BB3C-4124-A4B2-DC802BEC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9590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E2C0E-1738-4EA9-8919-7FC099B9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95900"/>
            <a:ext cx="15621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EEC1D7-1335-4604-BC4F-F9C8693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39FA8-A092-4F2B-BA61-9566FA0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578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DTI implementation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AF547-8DB4-4CBB-9DD8-F4B3B3A4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8578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11–13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F38B4-4A13-43D2-ACFB-7AA46EE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2935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415C5-F504-40ED-90D1-58F59FBC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29350"/>
            <a:ext cx="23431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E09327-6D5C-45EC-9CBE-F1D15842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38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5B6FD-F3E3-4E3C-94E5-964C0422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913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Dashboard integration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6628C-7DCF-4993-8D0D-3B1E7554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7913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14–15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823A9-0D5C-446F-86D2-5C28D6F9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6280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E7E14A-C204-45B3-87F9-212042E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62800"/>
            <a:ext cx="15621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8F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EA211C-5719-4199-838C-619BE222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724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1E794C-8369-41B7-A3AA-EB67B6D2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724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Testing and evaluation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05E947-1C66-40E3-BE68-A6C734F6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7247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16–18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9B7B62-00AA-454E-A860-A11C82C1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09625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099974-356D-4B99-B921-4C071A3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096250"/>
            <a:ext cx="23431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4170A6-54F6-49D8-9B45-D1B0976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05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B546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463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FF346E-CDED-4F2D-9442-33C57F0E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6582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Thesis writing and revision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43ADBC-8BA7-4D2D-8BEA-346DAFC9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86582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Weeks 19–22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7FCB9A-22A1-47B8-B036-AD7B6592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029700"/>
            <a:ext cx="4762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CC19AE-9D6F-4192-ACDA-179DBF17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9029700"/>
            <a:ext cx="31242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860700-D825-4FE8-AB0B-DA461DF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0"/>
            <a:ext cx="6457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CEF59A-E370-44ED-A7EA-53639928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696450"/>
            <a:ext cx="617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Scope control: wildlife-species recognition and physical deployment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4095075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312A2-9D22-43DD-9776-2558E4B9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C9914-30DF-467C-8A6B-4C677168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D68A8-E41A-4DB2-8714-D3AF806A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Expected outcomes are concrete, testable and publication-oriented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6EE72-8E11-4134-9625-AC46B36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D9C77-FF26-43A6-910A-97D96CFF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267D0-6807-4E55-9B90-7B01AC9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4DAD6-A0B0-4E64-9F9E-D517F75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1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FA56A-B483-4C9C-A1E3-BE119F26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89071-A49E-4FDA-924B-C8503A83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A documented multimodal data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DC22E-2B57-44B5-80F9-BC5EBD1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61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E88A0-6701-4F29-8520-E339316C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3010D-E980-4B56-8D77-69AF3837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Three lightweight detection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1AFB8-BB94-40CD-9A82-59109C9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61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3C9E0-0573-4CBE-BD7A-E64B92A1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45ADC-1928-468C-AA6D-36B5F44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A multi-zone virtual IoT event simulator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50FD7-7C10-40CB-A49C-74DFDBBF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61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38DB9-3CA7-4CCA-A43D-E3D42DE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E3A43-B287-4722-A56C-30B12DD5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149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96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An explainable Dynamic Threat Assessment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EDCD5-0C64-4503-B763-57132FE3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C9F24-DDF0-4F4A-95BF-D855893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9020C-839A-4183-A10E-85476E3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3150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A dashboard with prioritized alerts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D2339-D35F-4BE2-95AD-616A6F6E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91375"/>
            <a:ext cx="619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C4768-B453-4814-A20A-979C65FF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9DB70-4CB4-4055-A095-DEC4176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3152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2B"/>
                </a:solidFill>
                <a:latin typeface="Aptos"/>
                <a:ea typeface="Aptos"/>
                <a:cs typeface="Aptos"/>
              </a:rPr>
              <a:t>Baseline, ablation and sensitivity 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13D37-438B-431E-BF37-2104060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0"/>
            <a:ext cx="64579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75FB3-7AB2-4CCE-A2DF-9FAAD75C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820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SUCCESS CRITERION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E429C-69C7-4D05-A465-CE0D387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724900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22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DTI must improve emergency ranking or critical-event recall over fixed independent alarms without creating unacceptable false critical alerts.</a:t>
            </a:r>
          </a:p>
        </p:txBody>
      </p:sp>
    </p:spTree>
    <p:extLst>
      <p:ext uri="{BB962C8B-B14F-4D97-AF65-F5344CB8AC3E}">
        <p14:creationId xmlns:p14="http://schemas.microsoft.com/office/powerpoint/2010/main" val="4013143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A622F-CB7D-4E13-853D-3D30E38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C75AD-2E8C-401E-BB39-7EBBDE6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3A71E-271A-469D-93D5-4575B64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References — forest acoustics, anti-poaching and edge fire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51012-0ECB-4AA4-98D6-C07EDD6A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7C1D6-BDC7-4ADB-9450-189365D1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55C02-7CC6-4BB6-A184-85AEDF44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D6508-A67F-4A38-A8F9-672C86E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A2D49-B20A-47D6-9E72-112E6079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[1] Bandara et al., ‘Forest Sound Classification Dataset: FSC22,’ Sensors, 23(4), 2032, 2023. doi:10.3390/s23042032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39DCA-1ABD-46FE-B73E-A2051A89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07114-5D75-4E27-AA77-5B99B81F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[2] Mporas et al., ‘Illegal Logging Detection Based on Acoustic Surveillance of Forest,’ Applied Sciences, 10(20), 7379, 2020. doi:10.3390/app10207379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4016E-AAE1-4FAA-86F1-E861713B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F29DB-1BCD-45CE-9209-5C2F10D8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[3] Andreadis, Giambene &amp; Zambon, ‘Monitoring Illegal Tree Cutting through Ultra-Low-Power Smart IoT Devices,’ Sensors, 21(22), 7593, 2021. doi:10.3390/s21227593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EDE11-EC6B-47AC-BDDF-6C6AB5B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A7BF9-66A5-491C-8DDA-BDF63FC1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[4] ‘An Energy Efficient Fog-Based IoT Framework to Combat Wildlife Poaching,’ Sustainable Computing, 45, 101070, 2025. doi:10.1016/j.suscom.2024.101070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93B80-6F2C-435E-A5F3-1093D2D2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99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A632E-3B33-421B-8696-1FF77F5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[5] ‘Fog-Assisted IoT-Enabled Scalable Network Infrastructure for Wildfire Surveillance,’ JNCA, 144, 171–183, 2019. doi:10.1016/j.jnca.2019.07.005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DB843-65E7-476A-8E83-A135EF4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391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91946-3F4B-4F9A-8E10-81EA394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[6] Almeida et al., ‘EdgeFireSmoke++,’ Expert Systems with Applications, 221, 119747, 2023. doi:10.1016/j.eswa.2023.119747</a:t>
            </a:r>
          </a:p>
        </p:txBody>
      </p:sp>
    </p:spTree>
    <p:extLst>
      <p:ext uri="{BB962C8B-B14F-4D97-AF65-F5344CB8AC3E}">
        <p14:creationId xmlns:p14="http://schemas.microsoft.com/office/powerpoint/2010/main" val="18955095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FCACD-C3B3-4892-8A3B-2C100B0E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E49F6-E54E-42A2-BAF1-059B8372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REVIEW 1  •  STAGE 1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9794-7D56-4089-99FA-B22E547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645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References — wildfire intelligence and human fall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FD4CB-55AA-486E-A218-087EE5DD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45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5C690-1F20-4DE6-A5FF-9AC509C2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296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16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48412-537A-42A5-BF04-3D5B2B25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965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0716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16C"/>
                </a:solidFill>
                <a:latin typeface="Aptos"/>
                <a:ea typeface="Aptos"/>
                <a:cs typeface="Aptos"/>
              </a:rPr>
              <a:t>A4 PORTRAIT • EDITABLE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AAE06-2E46-4CD8-89E1-325896B9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001DE-CDD1-47CA-810A-8D47910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[7] ‘Towards Early Forest Fire Detection and Prevention Using AI-Powered Drones and the IoT,’ Internet of Things, 27, 101248, 2024. doi:10.1016/j.iot.2024.101248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3ABE7-F241-4CB8-859C-6733B48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8D537-1780-4C1B-9489-B4EEC19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[8] ‘Early Wildfire Detection Using Different Machine Learning Algorithms,’ Remote Sensing Applications, 101346, 2024. doi:10.1016/j.rsase.2024.101346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DFBB6-A68F-4E08-B78A-E3382036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AA023-21E3-4A1F-BA83-81893D2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[9] ‘An Edge-Intelligent Three-Tier Framework for Real-Time Forest Fire Detection,’ Internet of Things, 101861, 2025. doi:10.1016/j.iot.2025.101861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1B91F-EA77-4DCE-8147-47293DC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2B0D6-5C9B-4AA8-8CC1-EA517C74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[10] Santos et al., ‘Accelerometer-Based Human Fall Detection Using Convolutional Neural Networks,’ Sensors, 19(7), 1644, 2019. doi:10.3390/s19071644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3CD5A-35ED-49F4-8D9E-A9A7DCDF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99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D7EDA-5BF2-496C-A1D2-70393B2C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[11] ‘Analysis of a Smartphone-Based Architecture with Multiple Mobility Sensors for Fall Detection,’ Sensors, 18(4), 1155, 2018. doi:10.3390/s18041155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68AFE-96A5-4B35-9B83-B37A5DFF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39125"/>
            <a:ext cx="645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45952-EA32-4FE4-81FE-FFFB540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10575"/>
            <a:ext cx="603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830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302B"/>
                </a:solidFill>
                <a:latin typeface="Aptos"/>
                <a:ea typeface="Aptos"/>
                <a:cs typeface="Aptos"/>
              </a:rPr>
              <a:t>[12] ‘A Feature Engineering Method for Smartphone-Based Fall Detection,’ Sensors, 25(20), 6500, 2025. doi:10.3390/s25206500</a:t>
            </a:r>
          </a:p>
        </p:txBody>
      </p:sp>
    </p:spTree>
    <p:extLst>
      <p:ext uri="{BB962C8B-B14F-4D97-AF65-F5344CB8AC3E}">
        <p14:creationId xmlns:p14="http://schemas.microsoft.com/office/powerpoint/2010/main" val="10806347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64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3B66B-BFD6-4BAE-8712-9F237E33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0F9D-0A8B-4723-8AA1-BBDDEC36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REVIEW 1 • PROPOSAL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302E3-DC67-4F0E-971A-25B1F58F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67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precise and achievable individual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90458-E362-49E8-B59C-887613B4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3C178-4D02-4BDD-8259-50763D9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B3047-6239-4A0B-9D51-4075EB9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0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detections do not establish response priority.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3313D-D0CB-4069-A76D-94B4C61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4B63F-B66F-46EB-A4B3-B143785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386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2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public datasets, lightweight models and virtual IoT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2BC48-3948-41F7-960E-198266DD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69E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9E2E"/>
                </a:solidFill>
                <a:latin typeface="Aptos"/>
                <a:ea typeface="Aptos"/>
                <a:cs typeface="Aptos"/>
              </a:rPr>
              <a:t>NOVELTY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A7B71-4CA4-4ED7-8078-25B333DB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388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24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 explainable, confidence-aware Dynamic Threat Index.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1E03F-80B4-477C-BD0C-DC93E28D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6D51D-4720-4368-950C-004BCD3B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6389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2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Twelve peer-reviewed papers and measurable evaluation baselines.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87CE0-5F9B-46DD-B9BF-0EDEED6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B8F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8F71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B97E3-4C4B-4048-9931-36C1B79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76390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2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Software-only core, 22 weeks and approximately ₹1,000–₹3,000.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E37A7-22D9-42C8-B902-34AD0954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58250"/>
            <a:ext cx="581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1F93B-6E4C-4677-8C16-25664BBE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8685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790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64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4A3A"/>
                </a:solidFill>
                <a:latin typeface="Aptos"/>
                <a:ea typeface="Aptos"/>
                <a:cs typeface="Aptos"/>
              </a:rPr>
              <a:t>Requested outcome: approval to proceed to dataset preparation and baseline modelling.</a:t>
            </a:r>
          </a:p>
        </p:txBody>
      </p:sp>
    </p:spTree>
    <p:extLst>
      <p:ext uri="{BB962C8B-B14F-4D97-AF65-F5344CB8AC3E}">
        <p14:creationId xmlns:p14="http://schemas.microsoft.com/office/powerpoint/2010/main" val="1390037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2026-08-29T10:00:26.8850000Z</dcterms:created>
  <dcterms:modified xsi:type="dcterms:W3CDTF">2026-08-29T10:00:26.8850000Z</dcterms:modified>
</coreProperties>
</file>